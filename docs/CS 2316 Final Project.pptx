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8156c6d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8156c6d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8156c6d2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8156c6d2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8156c6d2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8156c6d2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8156c6d2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8156c6d2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8156c6d2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8156c6d2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8156c6d2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8156c6d2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8156c6d2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8156c6d2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8156c6d2e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8156c6d2e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8156c6d2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8156c6d2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156c6d2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8156c6d2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8156c6d2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8156c6d2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sports-statistics.com/sports-data/nba-basketball-datasets-csv-files/" TargetMode="External"/><Relationship Id="rId4" Type="http://schemas.openxmlformats.org/officeDocument/2006/relationships/hyperlink" Target="http://nba.com" TargetMode="External"/><Relationship Id="rId5" Type="http://schemas.openxmlformats.org/officeDocument/2006/relationships/hyperlink" Target="https://www.basketball-reference.com/leagues/NBA_2025.html#all_shooting_team-opponen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NBA Data Analysis:</a:t>
            </a:r>
            <a:endParaRPr/>
          </a:p>
          <a:p>
            <a:pPr indent="0" lvl="0" marL="0" rtl="0" algn="ctr">
              <a:spcBef>
                <a:spcPts val="0"/>
              </a:spcBef>
              <a:spcAft>
                <a:spcPts val="0"/>
              </a:spcAft>
              <a:buNone/>
            </a:pPr>
            <a:r>
              <a:rPr lang="en" sz="3300"/>
              <a:t>What Factors Affect Winning?</a:t>
            </a:r>
            <a:endParaRPr sz="3300"/>
          </a:p>
        </p:txBody>
      </p:sp>
      <p:sp>
        <p:nvSpPr>
          <p:cNvPr id="55" name="Google Shape;55;p13"/>
          <p:cNvSpPr txBox="1"/>
          <p:nvPr>
            <p:ph idx="1" type="subTitle"/>
          </p:nvPr>
        </p:nvSpPr>
        <p:spPr>
          <a:xfrm>
            <a:off x="311700" y="2834125"/>
            <a:ext cx="8520600" cy="10542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By: Paul Gibson and Aadi Dodda</a:t>
            </a:r>
            <a:endParaRPr/>
          </a:p>
          <a:p>
            <a:pPr indent="0" lvl="0" marL="0" rtl="0" algn="ctr">
              <a:spcBef>
                <a:spcPts val="0"/>
              </a:spcBef>
              <a:spcAft>
                <a:spcPts val="0"/>
              </a:spcAft>
              <a:buNone/>
            </a:pPr>
            <a:r>
              <a:rPr lang="en"/>
              <a:t>Group #47</a:t>
            </a:r>
            <a:endParaRPr/>
          </a:p>
          <a:p>
            <a:pPr indent="0" lvl="0" marL="0" rtl="0" algn="ctr">
              <a:spcBef>
                <a:spcPts val="0"/>
              </a:spcBef>
              <a:spcAft>
                <a:spcPts val="0"/>
              </a:spcAft>
              <a:buNone/>
            </a:pPr>
            <a:r>
              <a:rPr lang="en"/>
              <a:t>CS2316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Purpose and Design: P</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a:solidFill>
                  <a:schemeClr val="dk1"/>
                </a:solidFill>
              </a:rPr>
              <a:t>Why We chose this project:</a:t>
            </a:r>
            <a:endParaRPr b="1">
              <a:solidFill>
                <a:schemeClr val="dk1"/>
              </a:solidFill>
            </a:endParaRPr>
          </a:p>
          <a:p>
            <a:pPr indent="-317500" lvl="0" marL="457200" rtl="0" algn="l">
              <a:lnSpc>
                <a:spcPct val="100000"/>
              </a:lnSpc>
              <a:spcBef>
                <a:spcPts val="1200"/>
              </a:spcBef>
              <a:spcAft>
                <a:spcPts val="0"/>
              </a:spcAft>
              <a:buSzPts val="1400"/>
              <a:buChar char="●"/>
            </a:pPr>
            <a:r>
              <a:rPr lang="en" sz="1400"/>
              <a:t>We are both NBA fans and recognized the data-rich environment of the sport</a:t>
            </a:r>
            <a:endParaRPr sz="1400"/>
          </a:p>
          <a:p>
            <a:pPr indent="-317500" lvl="0" marL="457200" rtl="0" algn="l">
              <a:lnSpc>
                <a:spcPct val="100000"/>
              </a:lnSpc>
              <a:spcBef>
                <a:spcPts val="0"/>
              </a:spcBef>
              <a:spcAft>
                <a:spcPts val="0"/>
              </a:spcAft>
              <a:buSzPts val="1400"/>
              <a:buChar char="●"/>
            </a:pPr>
            <a:r>
              <a:rPr lang="en" sz="1400"/>
              <a:t>NBA teams use basketball analytics in order to make decisions such as prioritization in training</a:t>
            </a:r>
            <a:endParaRPr sz="1400"/>
          </a:p>
          <a:p>
            <a:pPr indent="0" lvl="0" marL="0" rtl="0" algn="l">
              <a:lnSpc>
                <a:spcPct val="100000"/>
              </a:lnSpc>
              <a:spcBef>
                <a:spcPts val="1200"/>
              </a:spcBef>
              <a:spcAft>
                <a:spcPts val="0"/>
              </a:spcAft>
              <a:buNone/>
            </a:pPr>
            <a:r>
              <a:rPr b="1" lang="en">
                <a:solidFill>
                  <a:schemeClr val="dk1"/>
                </a:solidFill>
              </a:rPr>
              <a:t>Expected Results:</a:t>
            </a:r>
            <a:endParaRPr>
              <a:solidFill>
                <a:schemeClr val="dk1"/>
              </a:solidFill>
            </a:endParaRPr>
          </a:p>
          <a:p>
            <a:pPr indent="-317500" lvl="0" marL="457200" rtl="0" algn="l">
              <a:spcBef>
                <a:spcPts val="1200"/>
              </a:spcBef>
              <a:spcAft>
                <a:spcPts val="0"/>
              </a:spcAft>
              <a:buSzPts val="1400"/>
              <a:buChar char="●"/>
            </a:pPr>
            <a:r>
              <a:rPr lang="en" sz="1400"/>
              <a:t>Offensive efficiency would be a stronger prediction of winning than </a:t>
            </a:r>
            <a:r>
              <a:rPr lang="en" sz="1400"/>
              <a:t>defensive</a:t>
            </a:r>
            <a:endParaRPr sz="1400"/>
          </a:p>
          <a:p>
            <a:pPr indent="-317500" lvl="0" marL="457200" rtl="0" algn="l">
              <a:spcBef>
                <a:spcPts val="0"/>
              </a:spcBef>
              <a:spcAft>
                <a:spcPts val="0"/>
              </a:spcAft>
              <a:buSzPts val="1400"/>
              <a:buChar char="●"/>
            </a:pPr>
            <a:r>
              <a:rPr lang="en" sz="1400"/>
              <a:t>Three-point shooting would have a strong correlation to team success</a:t>
            </a:r>
            <a:endParaRPr sz="1400"/>
          </a:p>
          <a:p>
            <a:pPr indent="-317500" lvl="0" marL="457200" rtl="0" algn="l">
              <a:spcBef>
                <a:spcPts val="0"/>
              </a:spcBef>
              <a:spcAft>
                <a:spcPts val="0"/>
              </a:spcAft>
              <a:buSzPts val="1400"/>
              <a:buChar char="●"/>
            </a:pPr>
            <a:r>
              <a:rPr lang="en" sz="1400"/>
              <a:t>High scoring players will be on some of the most winning teams</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Datasets(A)</a:t>
            </a:r>
            <a:endParaRPr/>
          </a:p>
        </p:txBody>
      </p:sp>
      <p:sp>
        <p:nvSpPr>
          <p:cNvPr id="67" name="Google Shape;67;p15"/>
          <p:cNvSpPr txBox="1"/>
          <p:nvPr>
            <p:ph idx="1" type="body"/>
          </p:nvPr>
        </p:nvSpPr>
        <p:spPr>
          <a:xfrm>
            <a:off x="311700" y="10439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sz="2058">
                <a:solidFill>
                  <a:schemeClr val="dk1"/>
                </a:solidFill>
              </a:rPr>
              <a:t>Downloaded Dataset</a:t>
            </a:r>
            <a:r>
              <a:rPr lang="en" sz="2058">
                <a:solidFill>
                  <a:schemeClr val="dk1"/>
                </a:solidFill>
              </a:rPr>
              <a:t>: </a:t>
            </a:r>
            <a:endParaRPr sz="2058">
              <a:solidFill>
                <a:schemeClr val="dk1"/>
              </a:solidFill>
            </a:endParaRPr>
          </a:p>
          <a:p>
            <a:pPr indent="0" lvl="0" marL="0" rtl="0" algn="l">
              <a:spcBef>
                <a:spcPts val="1200"/>
              </a:spcBef>
              <a:spcAft>
                <a:spcPts val="0"/>
              </a:spcAft>
              <a:buNone/>
            </a:pPr>
            <a:r>
              <a:rPr lang="en">
                <a:solidFill>
                  <a:schemeClr val="dk1"/>
                </a:solidFill>
              </a:rPr>
              <a:t>A downloaded player dataset from sports-statistics.com with 24,625 rows and 52 columns, which gave us detailed player statistics and helped us study how top scorers relate to team success.</a:t>
            </a:r>
            <a:endParaRPr>
              <a:solidFill>
                <a:schemeClr val="dk1"/>
              </a:solidFill>
            </a:endParaRPr>
          </a:p>
          <a:p>
            <a:pPr indent="0" lvl="0" marL="0" rtl="0" algn="l">
              <a:spcBef>
                <a:spcPts val="1200"/>
              </a:spcBef>
              <a:spcAft>
                <a:spcPts val="0"/>
              </a:spcAft>
              <a:buNone/>
            </a:pPr>
            <a:r>
              <a:rPr b="1" lang="en" sz="2058">
                <a:solidFill>
                  <a:schemeClr val="dk1"/>
                </a:solidFill>
              </a:rPr>
              <a:t>NBA API Dataset</a:t>
            </a:r>
            <a:r>
              <a:rPr lang="en" sz="2058">
                <a:solidFill>
                  <a:schemeClr val="dk1"/>
                </a:solidFill>
              </a:rPr>
              <a:t>: </a:t>
            </a:r>
            <a:endParaRPr sz="2058">
              <a:solidFill>
                <a:schemeClr val="dk1"/>
              </a:solidFill>
            </a:endParaRPr>
          </a:p>
          <a:p>
            <a:pPr indent="0" lvl="0" marL="0" rtl="0" algn="l">
              <a:spcBef>
                <a:spcPts val="1200"/>
              </a:spcBef>
              <a:spcAft>
                <a:spcPts val="0"/>
              </a:spcAft>
              <a:buNone/>
            </a:pPr>
            <a:r>
              <a:rPr lang="en">
                <a:solidFill>
                  <a:schemeClr val="dk1"/>
                </a:solidFill>
              </a:rPr>
              <a:t>Installed and used nba_api in python which gave us advanced team metrics such as win percentage, offensive rating, defensive rating used in modern-day NBA analytics.</a:t>
            </a:r>
            <a:endParaRPr>
              <a:solidFill>
                <a:schemeClr val="dk1"/>
              </a:solidFill>
            </a:endParaRPr>
          </a:p>
          <a:p>
            <a:pPr indent="0" lvl="0" marL="0" rtl="0" algn="l">
              <a:spcBef>
                <a:spcPts val="1200"/>
              </a:spcBef>
              <a:spcAft>
                <a:spcPts val="0"/>
              </a:spcAft>
              <a:buNone/>
            </a:pPr>
            <a:r>
              <a:rPr b="1" lang="en" sz="2058">
                <a:solidFill>
                  <a:schemeClr val="dk1"/>
                </a:solidFill>
              </a:rPr>
              <a:t>Basketball Reference</a:t>
            </a:r>
            <a:r>
              <a:rPr lang="en" sz="2058">
                <a:solidFill>
                  <a:schemeClr val="dk1"/>
                </a:solidFill>
              </a:rPr>
              <a:t>: </a:t>
            </a:r>
            <a:endParaRPr sz="2058">
              <a:solidFill>
                <a:schemeClr val="dk1"/>
              </a:solidFill>
            </a:endParaRPr>
          </a:p>
          <a:p>
            <a:pPr indent="0" lvl="0" marL="0" rtl="0" algn="l">
              <a:spcBef>
                <a:spcPts val="1200"/>
              </a:spcBef>
              <a:spcAft>
                <a:spcPts val="0"/>
              </a:spcAft>
              <a:buNone/>
            </a:pPr>
            <a:r>
              <a:rPr lang="en">
                <a:solidFill>
                  <a:schemeClr val="dk1"/>
                </a:solidFill>
              </a:rPr>
              <a:t>We pulled team shooting data from Basketball Reference and extracted the table that contained shooting percentages and distance-based shot data. We chose the this because it added location-based shooting data, which let us study whether where teams shoot from matters as much as how well they shoot.</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Cleaning Process: P</a:t>
            </a:r>
            <a:endParaRPr/>
          </a:p>
        </p:txBody>
      </p:sp>
      <p:sp>
        <p:nvSpPr>
          <p:cNvPr id="73" name="Google Shape;73;p16"/>
          <p:cNvSpPr txBox="1"/>
          <p:nvPr>
            <p:ph idx="1" type="body"/>
          </p:nvPr>
        </p:nvSpPr>
        <p:spPr>
          <a:xfrm>
            <a:off x="311700" y="1043975"/>
            <a:ext cx="8520600" cy="34164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
              <a:t>3 main inconsistencies found in our data:</a:t>
            </a:r>
            <a:endParaRPr/>
          </a:p>
          <a:p>
            <a:pPr indent="-304800" lvl="0" marL="457200" rtl="0" algn="l">
              <a:spcBef>
                <a:spcPts val="1200"/>
              </a:spcBef>
              <a:spcAft>
                <a:spcPts val="0"/>
              </a:spcAft>
              <a:buSzPts val="1200"/>
              <a:buChar char="●"/>
            </a:pPr>
            <a:r>
              <a:rPr lang="en" sz="1200"/>
              <a:t>Missing team values in Downloaded dataset</a:t>
            </a:r>
            <a:endParaRPr sz="1200"/>
          </a:p>
          <a:p>
            <a:pPr indent="-304800" lvl="1" marL="914400" rtl="0" algn="l">
              <a:spcBef>
                <a:spcPts val="0"/>
              </a:spcBef>
              <a:spcAft>
                <a:spcPts val="0"/>
              </a:spcAft>
              <a:buSzPts val="1200"/>
              <a:buChar char="○"/>
            </a:pPr>
            <a:r>
              <a:rPr lang="en" sz="1200"/>
              <a:t>Default missing </a:t>
            </a:r>
            <a:r>
              <a:rPr lang="en" sz="1200"/>
              <a:t>team</a:t>
            </a:r>
            <a:r>
              <a:rPr lang="en" sz="1200"/>
              <a:t> values as ‘UNKNOWN’</a:t>
            </a:r>
            <a:endParaRPr sz="1200"/>
          </a:p>
          <a:p>
            <a:pPr indent="-304800" lvl="1" marL="914400" rtl="0" algn="l">
              <a:spcBef>
                <a:spcPts val="0"/>
              </a:spcBef>
              <a:spcAft>
                <a:spcPts val="0"/>
              </a:spcAft>
              <a:buSzPts val="1200"/>
              <a:buChar char="○"/>
            </a:pPr>
            <a:r>
              <a:rPr lang="en" sz="1200"/>
              <a:t>Using .get() funtion</a:t>
            </a:r>
            <a:endParaRPr sz="1200"/>
          </a:p>
          <a:p>
            <a:pPr indent="-304800" lvl="0" marL="457200" rtl="0" algn="l">
              <a:spcBef>
                <a:spcPts val="0"/>
              </a:spcBef>
              <a:spcAft>
                <a:spcPts val="0"/>
              </a:spcAft>
              <a:buSzPts val="1200"/>
              <a:buChar char="●"/>
            </a:pPr>
            <a:r>
              <a:rPr lang="en" sz="1200"/>
              <a:t>Team names were listed differently across all datasets</a:t>
            </a:r>
            <a:endParaRPr sz="1200"/>
          </a:p>
          <a:p>
            <a:pPr indent="-304800" lvl="1" marL="914400" rtl="0" algn="l">
              <a:spcBef>
                <a:spcPts val="0"/>
              </a:spcBef>
              <a:spcAft>
                <a:spcPts val="0"/>
              </a:spcAft>
              <a:buSzPts val="1200"/>
              <a:buChar char="○"/>
            </a:pPr>
            <a:r>
              <a:rPr lang="en" sz="1200"/>
              <a:t>After each dataset had been collected, the team names were mapped to a ‘TEAM_NAME_SHORT’ column</a:t>
            </a:r>
            <a:endParaRPr sz="1200"/>
          </a:p>
          <a:p>
            <a:pPr indent="-304800" lvl="2" marL="1371600" rtl="0" algn="l">
              <a:spcBef>
                <a:spcPts val="0"/>
              </a:spcBef>
              <a:spcAft>
                <a:spcPts val="0"/>
              </a:spcAft>
              <a:buSzPts val="1200"/>
              <a:buChar char="■"/>
            </a:pPr>
            <a:r>
              <a:rPr lang="en" sz="1200"/>
              <a:t>Insures </a:t>
            </a:r>
            <a:r>
              <a:rPr lang="en" sz="1200"/>
              <a:t>consistent</a:t>
            </a:r>
            <a:r>
              <a:rPr lang="en" sz="1200"/>
              <a:t> reference points to each team across all datasets</a:t>
            </a:r>
            <a:endParaRPr sz="1200"/>
          </a:p>
          <a:p>
            <a:pPr indent="0" lvl="0" marL="0" rtl="0" algn="l">
              <a:lnSpc>
                <a:spcPct val="100000"/>
              </a:lnSpc>
              <a:spcBef>
                <a:spcPts val="1200"/>
              </a:spcBef>
              <a:spcAft>
                <a:spcPts val="0"/>
              </a:spcAft>
              <a:buNone/>
            </a:pPr>
            <a:r>
              <a:t/>
            </a:r>
            <a:endParaRPr sz="1200"/>
          </a:p>
          <a:p>
            <a:pPr indent="0" lvl="0" marL="457200" rtl="0" algn="l">
              <a:lnSpc>
                <a:spcPct val="100000"/>
              </a:lnSpc>
              <a:spcBef>
                <a:spcPts val="1200"/>
              </a:spcBef>
              <a:spcAft>
                <a:spcPts val="0"/>
              </a:spcAft>
              <a:buNone/>
            </a:pPr>
            <a:r>
              <a:t/>
            </a:r>
            <a:endParaRPr sz="1200"/>
          </a:p>
          <a:p>
            <a:pPr indent="0" lvl="0" marL="457200" rtl="0" algn="l">
              <a:spcBef>
                <a:spcPts val="1200"/>
              </a:spcBef>
              <a:spcAft>
                <a:spcPts val="0"/>
              </a:spcAft>
              <a:buNone/>
            </a:pPr>
            <a:r>
              <a:t/>
            </a:r>
            <a:endParaRPr sz="1200"/>
          </a:p>
          <a:p>
            <a:pPr indent="-304800" lvl="0" marL="457200" rtl="0" algn="l">
              <a:spcBef>
                <a:spcPts val="1200"/>
              </a:spcBef>
              <a:spcAft>
                <a:spcPts val="0"/>
              </a:spcAft>
              <a:buSzPts val="1200"/>
              <a:buChar char="●"/>
            </a:pPr>
            <a:r>
              <a:rPr lang="en" sz="1200"/>
              <a:t>HTML dataset contained redundant information in </a:t>
            </a:r>
            <a:r>
              <a:rPr lang="en" sz="1200"/>
              <a:t>separate</a:t>
            </a:r>
            <a:r>
              <a:rPr lang="en" sz="1200"/>
              <a:t> columns	</a:t>
            </a:r>
            <a:endParaRPr sz="1200"/>
          </a:p>
          <a:p>
            <a:pPr indent="-304800" lvl="1" marL="914400" rtl="0" algn="l">
              <a:spcBef>
                <a:spcPts val="0"/>
              </a:spcBef>
              <a:spcAft>
                <a:spcPts val="0"/>
              </a:spcAft>
              <a:buSzPts val="1200"/>
              <a:buChar char="○"/>
            </a:pPr>
            <a:r>
              <a:rPr lang="en" sz="1200"/>
              <a:t>Combined layup and dunk stats into the columns ‘Close Shots Made’ and ‘Close Shots %FGA’</a:t>
            </a:r>
            <a:endParaRPr sz="1200"/>
          </a:p>
        </p:txBody>
      </p:sp>
      <p:pic>
        <p:nvPicPr>
          <p:cNvPr id="74" name="Google Shape;74;p16"/>
          <p:cNvPicPr preferRelativeResize="0"/>
          <p:nvPr/>
        </p:nvPicPr>
        <p:blipFill>
          <a:blip r:embed="rId3">
            <a:alphaModFix/>
          </a:blip>
          <a:stretch>
            <a:fillRect/>
          </a:stretch>
        </p:blipFill>
        <p:spPr>
          <a:xfrm>
            <a:off x="783125" y="4255875"/>
            <a:ext cx="6404100" cy="523500"/>
          </a:xfrm>
          <a:prstGeom prst="roundRect">
            <a:avLst>
              <a:gd fmla="val 16667" name="adj"/>
            </a:avLst>
          </a:prstGeom>
          <a:noFill/>
          <a:ln>
            <a:noFill/>
          </a:ln>
        </p:spPr>
      </p:pic>
      <p:pic>
        <p:nvPicPr>
          <p:cNvPr id="75" name="Google Shape;75;p16"/>
          <p:cNvPicPr preferRelativeResize="0"/>
          <p:nvPr/>
        </p:nvPicPr>
        <p:blipFill>
          <a:blip r:embed="rId4">
            <a:alphaModFix/>
          </a:blip>
          <a:stretch>
            <a:fillRect/>
          </a:stretch>
        </p:blipFill>
        <p:spPr>
          <a:xfrm>
            <a:off x="1781425" y="2700575"/>
            <a:ext cx="3711000" cy="1112100"/>
          </a:xfrm>
          <a:prstGeom prst="roundRect">
            <a:avLst>
              <a:gd fmla="val 16667" name="adj"/>
            </a:avLst>
          </a:prstGeom>
          <a:noFill/>
          <a:ln>
            <a:noFill/>
          </a:ln>
        </p:spPr>
      </p:pic>
      <p:pic>
        <p:nvPicPr>
          <p:cNvPr id="76" name="Google Shape;76;p16"/>
          <p:cNvPicPr preferRelativeResize="0"/>
          <p:nvPr/>
        </p:nvPicPr>
        <p:blipFill rotWithShape="1">
          <a:blip r:embed="rId5">
            <a:alphaModFix/>
          </a:blip>
          <a:srcRect b="0" l="0" r="0" t="1759"/>
          <a:stretch/>
        </p:blipFill>
        <p:spPr>
          <a:xfrm>
            <a:off x="4727550" y="1481900"/>
            <a:ext cx="3103500" cy="768300"/>
          </a:xfrm>
          <a:prstGeom prst="roundRect">
            <a:avLst>
              <a:gd fmla="val 16667"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274600" y="170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Insights A</a:t>
            </a:r>
            <a:endParaRPr/>
          </a:p>
        </p:txBody>
      </p:sp>
      <p:sp>
        <p:nvSpPr>
          <p:cNvPr id="82" name="Google Shape;82;p17"/>
          <p:cNvSpPr txBox="1"/>
          <p:nvPr>
            <p:ph idx="1" type="body"/>
          </p:nvPr>
        </p:nvSpPr>
        <p:spPr>
          <a:xfrm>
            <a:off x="215200" y="863550"/>
            <a:ext cx="4074600" cy="40869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AutoNum type="arabicPeriod"/>
            </a:pPr>
            <a:r>
              <a:rPr lang="en" sz="1100">
                <a:solidFill>
                  <a:schemeClr val="dk1"/>
                </a:solidFill>
              </a:rPr>
              <a:t>Used linear regression to predict team win percentage from offensive rating and defensive rating. The model performed very well, with an </a:t>
            </a:r>
            <a:r>
              <a:rPr b="1" lang="en" sz="1100">
                <a:solidFill>
                  <a:schemeClr val="dk1"/>
                </a:solidFill>
              </a:rPr>
              <a:t>R-squared of 0.959</a:t>
            </a:r>
            <a:r>
              <a:rPr lang="en" sz="1100">
                <a:solidFill>
                  <a:schemeClr val="dk1"/>
                </a:solidFill>
              </a:rPr>
              <a:t> and </a:t>
            </a:r>
            <a:r>
              <a:rPr b="1" lang="en" sz="1100">
                <a:solidFill>
                  <a:schemeClr val="dk1"/>
                </a:solidFill>
              </a:rPr>
              <a:t>RMSE of 0.028</a:t>
            </a:r>
            <a:r>
              <a:rPr lang="en" sz="1100">
                <a:solidFill>
                  <a:schemeClr val="dk1"/>
                </a:solidFill>
              </a:rPr>
              <a:t>, and the formula showed that offensive rating had a slightly stronger positive effect on winning than defensive rating had a negative effect.</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298450" lvl="0" marL="457200" rtl="0" algn="l">
              <a:spcBef>
                <a:spcPts val="1200"/>
              </a:spcBef>
              <a:spcAft>
                <a:spcPts val="0"/>
              </a:spcAft>
              <a:buClr>
                <a:schemeClr val="dk1"/>
              </a:buClr>
              <a:buSzPts val="1100"/>
              <a:buAutoNum type="arabicPeriod"/>
            </a:pPr>
            <a:r>
              <a:rPr lang="en" sz="1100">
                <a:solidFill>
                  <a:schemeClr val="dk1"/>
                </a:solidFill>
              </a:rPr>
              <a:t>Used KMeans clustering to divide NBA teams into four groups based on offensive rating, defensive rating, and net rating. The clustering revealed natural performance tiers and showed that even without labeling teams in advance, the data naturally separated them into meaningful performance groups. </a:t>
            </a:r>
            <a:endParaRPr sz="1100">
              <a:solidFill>
                <a:schemeClr val="dk1"/>
              </a:solidFill>
            </a:endParaRPr>
          </a:p>
        </p:txBody>
      </p:sp>
      <p:pic>
        <p:nvPicPr>
          <p:cNvPr id="83" name="Google Shape;83;p17" title="Screenshot 2026-04-20 at 1.32.37 PM.png"/>
          <p:cNvPicPr preferRelativeResize="0"/>
          <p:nvPr/>
        </p:nvPicPr>
        <p:blipFill rotWithShape="1">
          <a:blip r:embed="rId3">
            <a:alphaModFix/>
          </a:blip>
          <a:srcRect b="56534" l="0" r="15995" t="2176"/>
          <a:stretch/>
        </p:blipFill>
        <p:spPr>
          <a:xfrm>
            <a:off x="4501975" y="908375"/>
            <a:ext cx="4503900" cy="1401300"/>
          </a:xfrm>
          <a:prstGeom prst="snip1Rect">
            <a:avLst>
              <a:gd fmla="val 16667" name="adj"/>
            </a:avLst>
          </a:prstGeom>
          <a:noFill/>
          <a:ln>
            <a:noFill/>
          </a:ln>
        </p:spPr>
      </p:pic>
      <p:pic>
        <p:nvPicPr>
          <p:cNvPr id="84" name="Google Shape;84;p17" title="Screenshot 2026-04-20 at 1.36.43 PM.png"/>
          <p:cNvPicPr preferRelativeResize="0"/>
          <p:nvPr/>
        </p:nvPicPr>
        <p:blipFill>
          <a:blip r:embed="rId4">
            <a:alphaModFix/>
          </a:blip>
          <a:stretch>
            <a:fillRect/>
          </a:stretch>
        </p:blipFill>
        <p:spPr>
          <a:xfrm>
            <a:off x="4404962" y="2859550"/>
            <a:ext cx="4341900" cy="16320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96450" y="44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Insights Continued P</a:t>
            </a:r>
            <a:endParaRPr/>
          </a:p>
        </p:txBody>
      </p:sp>
      <p:sp>
        <p:nvSpPr>
          <p:cNvPr id="90" name="Google Shape;90;p18"/>
          <p:cNvSpPr txBox="1"/>
          <p:nvPr>
            <p:ph idx="1" type="body"/>
          </p:nvPr>
        </p:nvSpPr>
        <p:spPr>
          <a:xfrm>
            <a:off x="159800" y="6660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100">
                <a:solidFill>
                  <a:schemeClr val="dk1"/>
                </a:solidFill>
              </a:rPr>
              <a:t>3. Do High-Scoring Stars Guarantee Winning? </a:t>
            </a:r>
            <a:r>
              <a:rPr lang="en" sz="1100">
                <a:solidFill>
                  <a:schemeClr val="dk1"/>
                </a:solidFill>
              </a:rPr>
              <a:t>We tested whether teams with top scorers also had better records. The correlation between top scorer total points and team win percentage was </a:t>
            </a:r>
            <a:r>
              <a:rPr b="1" lang="en" sz="1100">
                <a:solidFill>
                  <a:schemeClr val="dk1"/>
                </a:solidFill>
              </a:rPr>
              <a:t>0.400</a:t>
            </a:r>
            <a:r>
              <a:rPr lang="en" sz="1100">
                <a:solidFill>
                  <a:schemeClr val="dk1"/>
                </a:solidFill>
              </a:rPr>
              <a:t> and shows that scoring volume alone is not enough to explain team success. The best team with a top-15 scorer in the sample was the </a:t>
            </a:r>
            <a:r>
              <a:rPr b="1" lang="en" sz="1100">
                <a:solidFill>
                  <a:schemeClr val="dk1"/>
                </a:solidFill>
              </a:rPr>
              <a:t>Boston Celtics with Jayson Tatum at 74.4% win rate</a:t>
            </a:r>
            <a:r>
              <a:rPr lang="en" sz="1100">
                <a:solidFill>
                  <a:schemeClr val="dk1"/>
                </a:solidFill>
              </a:rPr>
              <a:t>, while the worst was the </a:t>
            </a:r>
            <a:r>
              <a:rPr b="1" lang="en" sz="1100">
                <a:solidFill>
                  <a:schemeClr val="dk1"/>
                </a:solidFill>
              </a:rPr>
              <a:t>Utah Jazz with Donovan Mitchell at 20.7% win rate</a:t>
            </a:r>
            <a:r>
              <a:rPr lang="en" sz="1100">
                <a:solidFill>
                  <a:schemeClr val="dk1"/>
                </a:solidFill>
              </a:rPr>
              <a:t>, showing that great scorers can still play on weak teams.</a:t>
            </a:r>
            <a:endParaRPr sz="1100">
              <a:solidFill>
                <a:schemeClr val="dk1"/>
              </a:solidFill>
            </a:endParaRPr>
          </a:p>
          <a:p>
            <a:pPr indent="0" lvl="0" marL="0" rtl="0" algn="l">
              <a:spcBef>
                <a:spcPts val="400"/>
              </a:spcBef>
              <a:spcAft>
                <a:spcPts val="0"/>
              </a:spcAft>
              <a:buNone/>
            </a:pPr>
            <a:r>
              <a:t/>
            </a:r>
            <a:endParaRPr/>
          </a:p>
          <a:p>
            <a:pPr indent="0" lvl="0" marL="0" rtl="0" algn="l">
              <a:spcBef>
                <a:spcPts val="1800"/>
              </a:spcBef>
              <a:spcAft>
                <a:spcPts val="0"/>
              </a:spcAft>
              <a:buNone/>
            </a:pPr>
            <a:r>
              <a:t/>
            </a:r>
            <a:endParaRPr/>
          </a:p>
          <a:p>
            <a:pPr indent="0" lvl="0" marL="0" rtl="0" algn="l">
              <a:spcBef>
                <a:spcPts val="1800"/>
              </a:spcBef>
              <a:spcAft>
                <a:spcPts val="0"/>
              </a:spcAft>
              <a:buClr>
                <a:schemeClr val="dk1"/>
              </a:buClr>
              <a:buSzPts val="1100"/>
              <a:buFont typeface="Arial"/>
              <a:buNone/>
            </a:pPr>
            <a:r>
              <a:rPr b="1" lang="en" sz="1100">
                <a:solidFill>
                  <a:schemeClr val="dk1"/>
                </a:solidFill>
              </a:rPr>
              <a:t>4. Three-Point Accuracy vs Three-Point Volume= </a:t>
            </a:r>
            <a:r>
              <a:rPr lang="en" sz="1100">
                <a:solidFill>
                  <a:schemeClr val="dk1"/>
                </a:solidFill>
              </a:rPr>
              <a:t>One of our strongest findings was that </a:t>
            </a:r>
            <a:r>
              <a:rPr b="1" lang="en" sz="1100">
                <a:solidFill>
                  <a:schemeClr val="dk1"/>
                </a:solidFill>
              </a:rPr>
              <a:t>three-point percentage mattered much more than three-point volume</a:t>
            </a:r>
            <a:r>
              <a:rPr lang="en" sz="1100">
                <a:solidFill>
                  <a:schemeClr val="dk1"/>
                </a:solidFill>
              </a:rPr>
              <a:t>. The correlation between </a:t>
            </a:r>
            <a:r>
              <a:rPr b="1" lang="en" sz="1100">
                <a:solidFill>
                  <a:schemeClr val="dk1"/>
                </a:solidFill>
              </a:rPr>
              <a:t>3P% and win percentage was 0.670</a:t>
            </a:r>
            <a:r>
              <a:rPr lang="en" sz="1100">
                <a:solidFill>
                  <a:schemeClr val="dk1"/>
                </a:solidFill>
              </a:rPr>
              <a:t>, while the correlation between </a:t>
            </a:r>
            <a:r>
              <a:rPr b="1" lang="en" sz="1100">
                <a:solidFill>
                  <a:schemeClr val="dk1"/>
                </a:solidFill>
              </a:rPr>
              <a:t>3PA and win percentage was only 0.130</a:t>
            </a:r>
            <a:r>
              <a:rPr lang="en" sz="1100">
                <a:solidFill>
                  <a:schemeClr val="dk1"/>
                </a:solidFill>
              </a:rPr>
              <a:t>. The top five teams in three-point accuracy averaged a </a:t>
            </a:r>
            <a:r>
              <a:rPr b="1" lang="en" sz="1100">
                <a:solidFill>
                  <a:schemeClr val="dk1"/>
                </a:solidFill>
              </a:rPr>
              <a:t>60.2% win rate</a:t>
            </a:r>
            <a:r>
              <a:rPr lang="en" sz="1100">
                <a:solidFill>
                  <a:schemeClr val="dk1"/>
                </a:solidFill>
              </a:rPr>
              <a:t>, while the bottom five averaged only </a:t>
            </a:r>
            <a:r>
              <a:rPr b="1" lang="en" sz="1100">
                <a:solidFill>
                  <a:schemeClr val="dk1"/>
                </a:solidFill>
              </a:rPr>
              <a:t>33.7%</a:t>
            </a:r>
            <a:r>
              <a:rPr lang="en" sz="1100">
                <a:solidFill>
                  <a:schemeClr val="dk1"/>
                </a:solidFill>
              </a:rPr>
              <a:t>, which is a much bigger difference than the gap between high-volume and low-volume three-point teams.</a:t>
            </a:r>
            <a:endParaRPr sz="1100">
              <a:solidFill>
                <a:schemeClr val="dk1"/>
              </a:solidFill>
            </a:endParaRPr>
          </a:p>
          <a:p>
            <a:pPr indent="0" lvl="0" marL="0" rtl="0" algn="l">
              <a:spcBef>
                <a:spcPts val="400"/>
              </a:spcBef>
              <a:spcAft>
                <a:spcPts val="1200"/>
              </a:spcAft>
              <a:buNone/>
            </a:pPr>
            <a:r>
              <a:t/>
            </a:r>
            <a:endParaRPr/>
          </a:p>
        </p:txBody>
      </p:sp>
      <p:pic>
        <p:nvPicPr>
          <p:cNvPr id="91" name="Google Shape;91;p18" title="Screenshot 2026-04-20 at 3.03.43 PM.png"/>
          <p:cNvPicPr preferRelativeResize="0"/>
          <p:nvPr/>
        </p:nvPicPr>
        <p:blipFill rotWithShape="1">
          <a:blip r:embed="rId3">
            <a:alphaModFix/>
          </a:blip>
          <a:srcRect b="94469" l="0" r="0" t="0"/>
          <a:stretch/>
        </p:blipFill>
        <p:spPr>
          <a:xfrm>
            <a:off x="375025" y="3796175"/>
            <a:ext cx="4159851" cy="515199"/>
          </a:xfrm>
          <a:prstGeom prst="rect">
            <a:avLst/>
          </a:prstGeom>
          <a:noFill/>
          <a:ln>
            <a:noFill/>
          </a:ln>
        </p:spPr>
      </p:pic>
      <p:pic>
        <p:nvPicPr>
          <p:cNvPr id="92" name="Google Shape;92;p18" title="Screenshot 2026-04-20 at 3.06.00 PM.png"/>
          <p:cNvPicPr preferRelativeResize="0"/>
          <p:nvPr/>
        </p:nvPicPr>
        <p:blipFill>
          <a:blip r:embed="rId4">
            <a:alphaModFix/>
          </a:blip>
          <a:stretch>
            <a:fillRect/>
          </a:stretch>
        </p:blipFill>
        <p:spPr>
          <a:xfrm>
            <a:off x="192925" y="1663450"/>
            <a:ext cx="8839204" cy="668983"/>
          </a:xfrm>
          <a:prstGeom prst="rect">
            <a:avLst/>
          </a:prstGeom>
          <a:noFill/>
          <a:ln>
            <a:noFill/>
          </a:ln>
        </p:spPr>
      </p:pic>
      <p:pic>
        <p:nvPicPr>
          <p:cNvPr id="93" name="Google Shape;93;p18" title="Screenshot 2026-04-20 at 3.08.19 PM.png"/>
          <p:cNvPicPr preferRelativeResize="0"/>
          <p:nvPr/>
        </p:nvPicPr>
        <p:blipFill>
          <a:blip r:embed="rId5">
            <a:alphaModFix/>
          </a:blip>
          <a:stretch>
            <a:fillRect/>
          </a:stretch>
        </p:blipFill>
        <p:spPr>
          <a:xfrm>
            <a:off x="4676825" y="3495100"/>
            <a:ext cx="3168324" cy="1544989"/>
          </a:xfrm>
          <a:prstGeom prst="rect">
            <a:avLst/>
          </a:prstGeom>
          <a:noFill/>
          <a:ln>
            <a:noFill/>
          </a:ln>
        </p:spPr>
      </p:pic>
      <p:cxnSp>
        <p:nvCxnSpPr>
          <p:cNvPr id="94" name="Google Shape;94;p18"/>
          <p:cNvCxnSpPr/>
          <p:nvPr/>
        </p:nvCxnSpPr>
        <p:spPr>
          <a:xfrm>
            <a:off x="51950" y="2456700"/>
            <a:ext cx="90771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Insight 5 A</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700">
                <a:solidFill>
                  <a:schemeClr val="dk1"/>
                </a:solidFill>
              </a:rPr>
              <a:t>Pace Did Not Matter Much</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We also tested whether playing faster led to better offense. The correlation between </a:t>
            </a:r>
            <a:r>
              <a:rPr b="1" lang="en" sz="1100">
                <a:solidFill>
                  <a:schemeClr val="dk1"/>
                </a:solidFill>
              </a:rPr>
              <a:t>pace and offensive rating was -0.031</a:t>
            </a:r>
            <a:r>
              <a:rPr lang="en" sz="1100">
                <a:solidFill>
                  <a:schemeClr val="dk1"/>
                </a:solidFill>
              </a:rPr>
              <a:t>, and fast teams averaged an offensive rating of </a:t>
            </a:r>
            <a:r>
              <a:rPr b="1" lang="en" sz="1100">
                <a:solidFill>
                  <a:schemeClr val="dk1"/>
                </a:solidFill>
              </a:rPr>
              <a:t>114.3</a:t>
            </a:r>
            <a:r>
              <a:rPr lang="en" sz="1100">
                <a:solidFill>
                  <a:schemeClr val="dk1"/>
                </a:solidFill>
              </a:rPr>
              <a:t>, compared with </a:t>
            </a:r>
            <a:r>
              <a:rPr b="1" lang="en" sz="1100">
                <a:solidFill>
                  <a:schemeClr val="dk1"/>
                </a:solidFill>
              </a:rPr>
              <a:t>114.0</a:t>
            </a:r>
            <a:r>
              <a:rPr lang="en" sz="1100">
                <a:solidFill>
                  <a:schemeClr val="dk1"/>
                </a:solidFill>
              </a:rPr>
              <a:t> for slower teams. That means pace had almost no relationship with offensive efficiency in our data, so simply playing faster did not appear to make teams meaningfully better on offense.</a:t>
            </a:r>
            <a:endParaRPr sz="1100">
              <a:solidFill>
                <a:schemeClr val="dk1"/>
              </a:solidFill>
            </a:endParaRPr>
          </a:p>
          <a:p>
            <a:pPr indent="0" lvl="0" marL="0" rtl="0" algn="l">
              <a:spcBef>
                <a:spcPts val="1200"/>
              </a:spcBef>
              <a:spcAft>
                <a:spcPts val="1200"/>
              </a:spcAft>
              <a:buNone/>
            </a:pPr>
            <a:r>
              <a:t/>
            </a:r>
            <a:endParaRPr/>
          </a:p>
        </p:txBody>
      </p:sp>
      <p:pic>
        <p:nvPicPr>
          <p:cNvPr id="101" name="Google Shape;101;p19" title="Screenshot 2026-04-20 at 3.13.55 PM.png"/>
          <p:cNvPicPr preferRelativeResize="0"/>
          <p:nvPr/>
        </p:nvPicPr>
        <p:blipFill>
          <a:blip r:embed="rId3">
            <a:alphaModFix/>
          </a:blip>
          <a:stretch>
            <a:fillRect/>
          </a:stretch>
        </p:blipFill>
        <p:spPr>
          <a:xfrm>
            <a:off x="257375" y="2493850"/>
            <a:ext cx="8574926" cy="2178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516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Visualizations</a:t>
            </a:r>
            <a:endParaRPr/>
          </a:p>
        </p:txBody>
      </p:sp>
      <p:sp>
        <p:nvSpPr>
          <p:cNvPr id="107" name="Google Shape;107;p20"/>
          <p:cNvSpPr txBox="1"/>
          <p:nvPr>
            <p:ph idx="1" type="body"/>
          </p:nvPr>
        </p:nvSpPr>
        <p:spPr>
          <a:xfrm>
            <a:off x="170725" y="683725"/>
            <a:ext cx="42528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3762"/>
              <a:t> </a:t>
            </a:r>
            <a:r>
              <a:rPr lang="en" sz="4962" u="sng"/>
              <a:t>Offensive Rating Vs. Winning Percentage</a:t>
            </a:r>
            <a:r>
              <a:rPr lang="en" sz="4962"/>
              <a:t> A</a:t>
            </a:r>
            <a:endParaRPr sz="4962"/>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4008"/>
          </a:p>
          <a:p>
            <a:pPr indent="0" lvl="0" marL="0" rtl="0" algn="l">
              <a:spcBef>
                <a:spcPts val="1200"/>
              </a:spcBef>
              <a:spcAft>
                <a:spcPts val="0"/>
              </a:spcAft>
              <a:buNone/>
            </a:pPr>
            <a:r>
              <a:t/>
            </a:r>
            <a:endParaRPr sz="4008"/>
          </a:p>
          <a:p>
            <a:pPr indent="0" lvl="0" marL="0" rtl="0" algn="l">
              <a:spcBef>
                <a:spcPts val="1200"/>
              </a:spcBef>
              <a:spcAft>
                <a:spcPts val="0"/>
              </a:spcAft>
              <a:buNone/>
            </a:pPr>
            <a:r>
              <a:rPr lang="en" sz="4008"/>
              <a:t>This scatter plot shows a clear positive relationship between offensive rating and win percentage. Each point represents an NBA team, and the trend line shows that teams with stronger offense tend to win more games. This visual supports our first insight and makes the regression result easier to see. </a:t>
            </a:r>
            <a:endParaRPr sz="4008"/>
          </a:p>
          <a:p>
            <a:pPr indent="0" lvl="0" marL="0" rtl="0" algn="l">
              <a:spcBef>
                <a:spcPts val="1200"/>
              </a:spcBef>
              <a:spcAft>
                <a:spcPts val="1200"/>
              </a:spcAft>
              <a:buNone/>
            </a:pPr>
            <a:r>
              <a:t/>
            </a:r>
            <a:endParaRPr sz="1300"/>
          </a:p>
        </p:txBody>
      </p:sp>
      <p:pic>
        <p:nvPicPr>
          <p:cNvPr id="108" name="Google Shape;108;p20" title="Screenshot 2026-04-20 at 1.40.26 PM.png"/>
          <p:cNvPicPr preferRelativeResize="0"/>
          <p:nvPr/>
        </p:nvPicPr>
        <p:blipFill>
          <a:blip r:embed="rId3">
            <a:alphaModFix/>
          </a:blip>
          <a:stretch>
            <a:fillRect/>
          </a:stretch>
        </p:blipFill>
        <p:spPr>
          <a:xfrm>
            <a:off x="278525" y="1305274"/>
            <a:ext cx="3610625" cy="2345200"/>
          </a:xfrm>
          <a:prstGeom prst="rect">
            <a:avLst/>
          </a:prstGeom>
          <a:noFill/>
          <a:ln>
            <a:noFill/>
          </a:ln>
        </p:spPr>
      </p:pic>
      <p:cxnSp>
        <p:nvCxnSpPr>
          <p:cNvPr id="109" name="Google Shape;109;p20"/>
          <p:cNvCxnSpPr/>
          <p:nvPr/>
        </p:nvCxnSpPr>
        <p:spPr>
          <a:xfrm>
            <a:off x="4542300" y="624325"/>
            <a:ext cx="59400" cy="4407900"/>
          </a:xfrm>
          <a:prstGeom prst="straightConnector1">
            <a:avLst/>
          </a:prstGeom>
          <a:noFill/>
          <a:ln cap="flat" cmpd="sng" w="9525">
            <a:solidFill>
              <a:schemeClr val="dk2"/>
            </a:solidFill>
            <a:prstDash val="solid"/>
            <a:round/>
            <a:headEnd len="med" w="med" type="none"/>
            <a:tailEnd len="med" w="med" type="none"/>
          </a:ln>
        </p:spPr>
      </p:cxnSp>
      <p:sp>
        <p:nvSpPr>
          <p:cNvPr id="110" name="Google Shape;110;p20"/>
          <p:cNvSpPr txBox="1"/>
          <p:nvPr/>
        </p:nvSpPr>
        <p:spPr>
          <a:xfrm>
            <a:off x="4661075" y="675400"/>
            <a:ext cx="4416000" cy="44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dk2"/>
                </a:solidFill>
              </a:rPr>
              <a:t>B</a:t>
            </a:r>
            <a:r>
              <a:rPr lang="en" sz="1200" u="sng">
                <a:solidFill>
                  <a:schemeClr val="dk2"/>
                </a:solidFill>
              </a:rPr>
              <a:t>ar chart of top scorers colored by team win percentage </a:t>
            </a:r>
            <a:r>
              <a:rPr lang="en" sz="1200">
                <a:solidFill>
                  <a:schemeClr val="dk2"/>
                </a:solidFill>
              </a:rPr>
              <a:t>P</a:t>
            </a:r>
            <a:endParaRPr sz="1200">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t/>
            </a:r>
            <a:endParaRPr sz="1300" u="sng">
              <a:solidFill>
                <a:schemeClr val="dk2"/>
              </a:solidFill>
            </a:endParaRPr>
          </a:p>
          <a:p>
            <a:pPr indent="0" lvl="0" marL="0" rtl="0" algn="l">
              <a:spcBef>
                <a:spcPts val="0"/>
              </a:spcBef>
              <a:spcAft>
                <a:spcPts val="0"/>
              </a:spcAft>
              <a:buNone/>
            </a:pPr>
            <a:r>
              <a:rPr lang="en" sz="1000">
                <a:solidFill>
                  <a:schemeClr val="dk2"/>
                </a:solidFill>
              </a:rPr>
              <a:t>This chart shows the top scorers, but the bar colors reflect how successful their teams were. Some players scored at a very high level while playing on teams with poor win percentages, which shows that individual scoring does not automatically lead to team success. This visual challenges the idea that the best scorer is always the main reason a team wins.</a:t>
            </a:r>
            <a:endParaRPr sz="1000">
              <a:solidFill>
                <a:schemeClr val="dk2"/>
              </a:solidFill>
            </a:endParaRPr>
          </a:p>
        </p:txBody>
      </p:sp>
      <p:pic>
        <p:nvPicPr>
          <p:cNvPr id="111" name="Google Shape;111;p20" title="Screenshot 2026-04-20 at 1.44.22 PM.png"/>
          <p:cNvPicPr preferRelativeResize="0"/>
          <p:nvPr/>
        </p:nvPicPr>
        <p:blipFill>
          <a:blip r:embed="rId4">
            <a:alphaModFix/>
          </a:blip>
          <a:stretch>
            <a:fillRect/>
          </a:stretch>
        </p:blipFill>
        <p:spPr>
          <a:xfrm>
            <a:off x="4972525" y="1172700"/>
            <a:ext cx="3525751" cy="24025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Visualizations (cont.)</a:t>
            </a:r>
            <a:endParaRPr/>
          </a:p>
        </p:txBody>
      </p:sp>
      <p:sp>
        <p:nvSpPr>
          <p:cNvPr id="117" name="Google Shape;117;p21"/>
          <p:cNvSpPr txBox="1"/>
          <p:nvPr>
            <p:ph idx="1" type="body"/>
          </p:nvPr>
        </p:nvSpPr>
        <p:spPr>
          <a:xfrm>
            <a:off x="311700" y="1152475"/>
            <a:ext cx="4182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t>Correlation Heatmap of Team Metrics </a:t>
            </a:r>
            <a:r>
              <a:rPr lang="en"/>
              <a:t>P</a:t>
            </a:r>
            <a:endParaRPr/>
          </a:p>
          <a:p>
            <a:pPr indent="0" lvl="0" marL="0" rtl="0" algn="l">
              <a:spcBef>
                <a:spcPts val="1200"/>
              </a:spcBef>
              <a:spcAft>
                <a:spcPts val="1200"/>
              </a:spcAft>
              <a:buNone/>
            </a:pPr>
            <a:r>
              <a:rPr lang="en" sz="1200"/>
              <a:t>This heatmap visualizes correlations between API team stats (OFF_RATING, DEF_RATING, W_PCT, 3P%) and HTML shooting metrics (FG%, Close shots made, Corner 3P%). Dark red indicates strong positive correlation (e.g., OFF_RATING and W_PCT), while dark blue indicates negative correlation (e.g., DEF_RATING and W_PCT). The visualization reveals that three-point percentage correlates more strongly with winning than close shots made, supporting modern NBA analytics that emphasize spacing and efficiency.</a:t>
            </a:r>
            <a:endParaRPr sz="1200"/>
          </a:p>
        </p:txBody>
      </p:sp>
      <p:pic>
        <p:nvPicPr>
          <p:cNvPr id="118" name="Google Shape;118;p21"/>
          <p:cNvPicPr preferRelativeResize="0"/>
          <p:nvPr/>
        </p:nvPicPr>
        <p:blipFill>
          <a:blip r:embed="rId3">
            <a:alphaModFix/>
          </a:blip>
          <a:stretch>
            <a:fillRect/>
          </a:stretch>
        </p:blipFill>
        <p:spPr>
          <a:xfrm>
            <a:off x="5034626" y="1403425"/>
            <a:ext cx="3526574" cy="30998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274600" y="59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 Learned Beyond Class</a:t>
            </a:r>
            <a:endParaRPr/>
          </a:p>
        </p:txBody>
      </p:sp>
      <p:sp>
        <p:nvSpPr>
          <p:cNvPr id="124" name="Google Shape;124;p22"/>
          <p:cNvSpPr txBox="1"/>
          <p:nvPr>
            <p:ph idx="1" type="body"/>
          </p:nvPr>
        </p:nvSpPr>
        <p:spPr>
          <a:xfrm>
            <a:off x="171250" y="5649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solidFill>
                  <a:schemeClr val="dk1"/>
                </a:solidFill>
              </a:rPr>
              <a:t>1. </a:t>
            </a:r>
            <a:r>
              <a:rPr lang="en" sz="1200">
                <a:solidFill>
                  <a:schemeClr val="dk1"/>
                </a:solidFill>
              </a:rPr>
              <a:t>Use of SeaBorn Module for Visualization 3: P</a:t>
            </a:r>
            <a:endParaRPr sz="1200">
              <a:solidFill>
                <a:schemeClr val="dk1"/>
              </a:solidFill>
            </a:endParaRPr>
          </a:p>
          <a:p>
            <a:pPr indent="0" lvl="0" marL="0" rtl="0" algn="l">
              <a:lnSpc>
                <a:spcPct val="100000"/>
              </a:lnSpc>
              <a:spcBef>
                <a:spcPts val="1200"/>
              </a:spcBef>
              <a:spcAft>
                <a:spcPts val="0"/>
              </a:spcAft>
              <a:buNone/>
            </a:pPr>
            <a:r>
              <a:rPr lang="en" sz="1200">
                <a:solidFill>
                  <a:schemeClr val="dk1"/>
                </a:solidFill>
              </a:rPr>
              <a:t>Created for specific data interpretation and visual creation, Allows </a:t>
            </a:r>
            <a:r>
              <a:rPr lang="en" sz="1200">
                <a:solidFill>
                  <a:schemeClr val="dk1"/>
                </a:solidFill>
              </a:rPr>
              <a:t>heat map</a:t>
            </a:r>
            <a:r>
              <a:rPr lang="en" sz="1200">
                <a:solidFill>
                  <a:schemeClr val="dk1"/>
                </a:solidFill>
              </a:rPr>
              <a:t> creation in one line of code instead of manually </a:t>
            </a:r>
            <a:r>
              <a:rPr lang="en" sz="1200">
                <a:solidFill>
                  <a:schemeClr val="dk1"/>
                </a:solidFill>
              </a:rPr>
              <a:t>piecing</a:t>
            </a:r>
            <a:r>
              <a:rPr lang="en" sz="1200">
                <a:solidFill>
                  <a:schemeClr val="dk1"/>
                </a:solidFill>
              </a:rPr>
              <a:t> together each part, Automatically adds colorbar, and Adds correlation numbers with inclusion of one parameter instead of needed nested loops</a:t>
            </a:r>
            <a:endParaRPr sz="1200">
              <a:solidFill>
                <a:schemeClr val="dk1"/>
              </a:solidFill>
            </a:endParaRPr>
          </a:p>
          <a:p>
            <a:pPr indent="0" lvl="0" marL="0" rtl="0" algn="l">
              <a:lnSpc>
                <a:spcPct val="100000"/>
              </a:lnSpc>
              <a:spcBef>
                <a:spcPts val="1200"/>
              </a:spcBef>
              <a:spcAft>
                <a:spcPts val="0"/>
              </a:spcAft>
              <a:buNone/>
            </a:pPr>
            <a:r>
              <a:t/>
            </a:r>
            <a:endParaRPr sz="1100"/>
          </a:p>
          <a:p>
            <a:pPr indent="0" lvl="0" marL="0" rtl="0" algn="l">
              <a:lnSpc>
                <a:spcPct val="100000"/>
              </a:lnSpc>
              <a:spcBef>
                <a:spcPts val="1200"/>
              </a:spcBef>
              <a:spcAft>
                <a:spcPts val="0"/>
              </a:spcAft>
              <a:buNone/>
            </a:pPr>
            <a:r>
              <a:rPr b="1" lang="en" sz="1200">
                <a:solidFill>
                  <a:schemeClr val="dk1"/>
                </a:solidFill>
              </a:rPr>
              <a:t>2. A Turning raw event totals into new basketball metrics</a:t>
            </a:r>
            <a:r>
              <a:rPr lang="en" sz="1200">
                <a:solidFill>
                  <a:schemeClr val="dk1"/>
                </a:solidFill>
              </a:rPr>
              <a:t>: In our play-by-play parser, we built a </a:t>
            </a:r>
            <a:r>
              <a:rPr lang="en" sz="1200">
                <a:solidFill>
                  <a:srgbClr val="188038"/>
                </a:solidFill>
              </a:rPr>
              <a:t>player_stats</a:t>
            </a:r>
            <a:r>
              <a:rPr lang="en" sz="1200">
                <a:solidFill>
                  <a:schemeClr val="dk1"/>
                </a:solidFill>
              </a:rPr>
              <a:t> dictionary from scratch and updated it row by row using fields like </a:t>
            </a:r>
            <a:r>
              <a:rPr lang="en" sz="1200">
                <a:solidFill>
                  <a:srgbClr val="188038"/>
                </a:solidFill>
              </a:rPr>
              <a:t>Shooter</a:t>
            </a:r>
            <a:r>
              <a:rPr lang="en" sz="1200">
                <a:solidFill>
                  <a:schemeClr val="dk1"/>
                </a:solidFill>
              </a:rPr>
              <a:t>, </a:t>
            </a:r>
            <a:r>
              <a:rPr lang="en" sz="1200">
                <a:solidFill>
                  <a:srgbClr val="188038"/>
                </a:solidFill>
              </a:rPr>
              <a:t>Assister</a:t>
            </a:r>
            <a:r>
              <a:rPr lang="en" sz="1200">
                <a:solidFill>
                  <a:schemeClr val="dk1"/>
                </a:solidFill>
              </a:rPr>
              <a:t>, </a:t>
            </a:r>
            <a:r>
              <a:rPr lang="en" sz="1200">
                <a:solidFill>
                  <a:srgbClr val="188038"/>
                </a:solidFill>
              </a:rPr>
              <a:t>Blocker</a:t>
            </a:r>
            <a:r>
              <a:rPr lang="en" sz="1200">
                <a:solidFill>
                  <a:schemeClr val="dk1"/>
                </a:solidFill>
              </a:rPr>
              <a:t>, </a:t>
            </a:r>
            <a:r>
              <a:rPr lang="en" sz="1200">
                <a:solidFill>
                  <a:srgbClr val="188038"/>
                </a:solidFill>
              </a:rPr>
              <a:t>Rebounder</a:t>
            </a:r>
            <a:r>
              <a:rPr lang="en" sz="1200">
                <a:solidFill>
                  <a:schemeClr val="dk1"/>
                </a:solidFill>
              </a:rPr>
              <a:t>, </a:t>
            </a:r>
            <a:r>
              <a:rPr lang="en" sz="1200">
                <a:solidFill>
                  <a:srgbClr val="188038"/>
                </a:solidFill>
              </a:rPr>
              <a:t>FreeThrowShooter</a:t>
            </a:r>
            <a:r>
              <a:rPr lang="en" sz="1200">
                <a:solidFill>
                  <a:schemeClr val="dk1"/>
                </a:solidFill>
              </a:rPr>
              <a:t>, and </a:t>
            </a:r>
            <a:r>
              <a:rPr lang="en" sz="1200">
                <a:solidFill>
                  <a:srgbClr val="188038"/>
                </a:solidFill>
              </a:rPr>
              <a:t>TurnoverPlayer</a:t>
            </a:r>
            <a:r>
              <a:rPr lang="en" sz="1200">
                <a:solidFill>
                  <a:schemeClr val="dk1"/>
                </a:solidFill>
              </a:rPr>
              <a:t>. We also used a </a:t>
            </a:r>
            <a:r>
              <a:rPr b="1" lang="en" sz="1200">
                <a:solidFill>
                  <a:schemeClr val="dk1"/>
                </a:solidFill>
              </a:rPr>
              <a:t>set</a:t>
            </a:r>
            <a:r>
              <a:rPr lang="en" sz="1200">
                <a:solidFill>
                  <a:schemeClr val="dk1"/>
                </a:solidFill>
              </a:rPr>
              <a:t> to store each player’s game IDs so we could correctly count games played without duplicates, and then converted those raw totals into new metrics like </a:t>
            </a:r>
            <a:r>
              <a:rPr b="1" lang="en" sz="1200">
                <a:solidFill>
                  <a:schemeClr val="dk1"/>
                </a:solidFill>
              </a:rPr>
              <a:t>PPG, RPG, APG, SPG, BPG, TPG, FPG, FG%, 3P%, and FT%</a:t>
            </a:r>
            <a:r>
              <a:rPr lang="en" sz="1200">
                <a:solidFill>
                  <a:schemeClr val="dk1"/>
                </a:solidFill>
              </a:rPr>
              <a:t>. That was more advanced than just filtering rows or calculating one simple column because we were reconstructing player-level statistics from raw game events. </a:t>
            </a:r>
            <a:endParaRPr sz="1200">
              <a:solidFill>
                <a:schemeClr val="dk1"/>
              </a:solidFill>
            </a:endParaRPr>
          </a:p>
          <a:p>
            <a:pPr indent="0" lvl="0" marL="0" rtl="0" algn="l">
              <a:lnSpc>
                <a:spcPct val="100000"/>
              </a:lnSpc>
              <a:spcBef>
                <a:spcPts val="1200"/>
              </a:spcBef>
              <a:spcAft>
                <a:spcPts val="1200"/>
              </a:spcAft>
              <a:buNone/>
            </a:pPr>
            <a:r>
              <a:t/>
            </a:r>
            <a:endParaRPr sz="1100">
              <a:solidFill>
                <a:schemeClr val="dk1"/>
              </a:solidFill>
            </a:endParaRPr>
          </a:p>
        </p:txBody>
      </p:sp>
      <p:pic>
        <p:nvPicPr>
          <p:cNvPr id="125" name="Google Shape;125;p22"/>
          <p:cNvPicPr preferRelativeResize="0"/>
          <p:nvPr/>
        </p:nvPicPr>
        <p:blipFill rotWithShape="1">
          <a:blip r:embed="rId3">
            <a:alphaModFix/>
          </a:blip>
          <a:srcRect b="0" l="0" r="0" t="11995"/>
          <a:stretch/>
        </p:blipFill>
        <p:spPr>
          <a:xfrm>
            <a:off x="207800" y="1612825"/>
            <a:ext cx="8313900" cy="225600"/>
          </a:xfrm>
          <a:prstGeom prst="roundRect">
            <a:avLst>
              <a:gd fmla="val 16667" name="adj"/>
            </a:avLst>
          </a:prstGeom>
          <a:noFill/>
          <a:ln>
            <a:noFill/>
          </a:ln>
        </p:spPr>
      </p:pic>
      <p:pic>
        <p:nvPicPr>
          <p:cNvPr id="126" name="Google Shape;126;p22" title="Screenshot 2026-04-20 at 3.40.15 PM.png"/>
          <p:cNvPicPr preferRelativeResize="0"/>
          <p:nvPr/>
        </p:nvPicPr>
        <p:blipFill>
          <a:blip r:embed="rId4">
            <a:alphaModFix/>
          </a:blip>
          <a:stretch>
            <a:fillRect/>
          </a:stretch>
        </p:blipFill>
        <p:spPr>
          <a:xfrm>
            <a:off x="786725" y="3198925"/>
            <a:ext cx="3650525" cy="1846100"/>
          </a:xfrm>
          <a:prstGeom prst="rect">
            <a:avLst/>
          </a:prstGeom>
          <a:noFill/>
          <a:ln>
            <a:noFill/>
          </a:ln>
        </p:spPr>
      </p:pic>
      <p:pic>
        <p:nvPicPr>
          <p:cNvPr id="127" name="Google Shape;127;p22" title="Screenshot 2026-04-20 at 3.42.24 PM.png"/>
          <p:cNvPicPr preferRelativeResize="0"/>
          <p:nvPr/>
        </p:nvPicPr>
        <p:blipFill>
          <a:blip r:embed="rId5">
            <a:alphaModFix/>
          </a:blip>
          <a:stretch>
            <a:fillRect/>
          </a:stretch>
        </p:blipFill>
        <p:spPr>
          <a:xfrm>
            <a:off x="4713025" y="2982200"/>
            <a:ext cx="2137549" cy="2111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P</a:t>
            </a:r>
            <a:endParaRPr/>
          </a:p>
        </p:txBody>
      </p:sp>
      <p:sp>
        <p:nvSpPr>
          <p:cNvPr id="133" name="Google Shape;13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100">
                <a:solidFill>
                  <a:schemeClr val="dk1"/>
                </a:solidFill>
              </a:rPr>
              <a:t>Our hypothesis was </a:t>
            </a:r>
            <a:r>
              <a:rPr b="1" lang="en" sz="1100">
                <a:solidFill>
                  <a:schemeClr val="dk1"/>
                </a:solidFill>
              </a:rPr>
              <a:t>mostly supported</a:t>
            </a:r>
            <a:r>
              <a:rPr lang="en" sz="1100">
                <a:solidFill>
                  <a:schemeClr val="dk1"/>
                </a:solidFill>
              </a:rPr>
              <a:t>, but not completely. We were right that </a:t>
            </a:r>
            <a:r>
              <a:rPr b="1" lang="en" sz="1100">
                <a:solidFill>
                  <a:schemeClr val="dk1"/>
                </a:solidFill>
              </a:rPr>
              <a:t>offensive efficiency was a stronger predictor of winning than defense</a:t>
            </a:r>
            <a:r>
              <a:rPr lang="en" sz="1100">
                <a:solidFill>
                  <a:schemeClr val="dk1"/>
                </a:solidFill>
              </a:rPr>
              <a:t>: in our regression model, offensive rating had a slightly stronger impact on win percentage than defensive rating, and together those two metrics explained team success extremely well with an </a:t>
            </a:r>
            <a:r>
              <a:rPr b="1" lang="en" sz="1100">
                <a:solidFill>
                  <a:schemeClr val="dk1"/>
                </a:solidFill>
              </a:rPr>
              <a:t>R² of 0.959</a:t>
            </a:r>
            <a:r>
              <a:rPr lang="en"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We were also right that </a:t>
            </a:r>
            <a:r>
              <a:rPr b="1" lang="en" sz="1100">
                <a:solidFill>
                  <a:schemeClr val="dk1"/>
                </a:solidFill>
              </a:rPr>
              <a:t>three-point shooting strongly related to team success</a:t>
            </a:r>
            <a:r>
              <a:rPr lang="en" sz="1100">
                <a:solidFill>
                  <a:schemeClr val="dk1"/>
                </a:solidFill>
              </a:rPr>
              <a:t>, but the key detail is that </a:t>
            </a:r>
            <a:r>
              <a:rPr b="1" lang="en" sz="1100">
                <a:solidFill>
                  <a:schemeClr val="dk1"/>
                </a:solidFill>
              </a:rPr>
              <a:t>accuracy mattered much more than volume</a:t>
            </a:r>
            <a:r>
              <a:rPr lang="en" sz="1100">
                <a:solidFill>
                  <a:schemeClr val="dk1"/>
                </a:solidFill>
              </a:rPr>
              <a:t>. </a:t>
            </a:r>
            <a:r>
              <a:rPr b="1" lang="en" sz="1100">
                <a:solidFill>
                  <a:schemeClr val="dk1"/>
                </a:solidFill>
              </a:rPr>
              <a:t>3P% had a 0.670 correlation with win percentage</a:t>
            </a:r>
            <a:r>
              <a:rPr lang="en" sz="1100">
                <a:solidFill>
                  <a:schemeClr val="dk1"/>
                </a:solidFill>
              </a:rPr>
              <a:t>, while </a:t>
            </a:r>
            <a:r>
              <a:rPr b="1" lang="en" sz="1100">
                <a:solidFill>
                  <a:schemeClr val="dk1"/>
                </a:solidFill>
              </a:rPr>
              <a:t>3PA had only a 0.130 correlation</a:t>
            </a:r>
            <a:r>
              <a:rPr lang="en" sz="1100">
                <a:solidFill>
                  <a:schemeClr val="dk1"/>
                </a:solidFill>
              </a:rPr>
              <a:t>, so teams did not win just because they took a lot of threes—they won when they made them efficiently.</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Where we were partly wrong was the idea that </a:t>
            </a:r>
            <a:r>
              <a:rPr b="1" lang="en" sz="1100">
                <a:solidFill>
                  <a:schemeClr val="dk1"/>
                </a:solidFill>
              </a:rPr>
              <a:t>high-scoring players would mostly be on the best teams</a:t>
            </a:r>
            <a:r>
              <a:rPr lang="en" sz="1100">
                <a:solidFill>
                  <a:schemeClr val="dk1"/>
                </a:solidFill>
              </a:rPr>
              <a:t>. Our results showed only a </a:t>
            </a:r>
            <a:r>
              <a:rPr b="1" lang="en" sz="1100">
                <a:solidFill>
                  <a:schemeClr val="dk1"/>
                </a:solidFill>
              </a:rPr>
              <a:t>moderate relationship</a:t>
            </a:r>
            <a:r>
              <a:rPr lang="en" sz="1100">
                <a:solidFill>
                  <a:schemeClr val="dk1"/>
                </a:solidFill>
              </a:rPr>
              <a:t> between a team’s top scorer and winning, which means elite scorers helped, but they were not enough by themselves to drive team success. Overall, the project showed that </a:t>
            </a:r>
            <a:r>
              <a:rPr b="1" lang="en" sz="1100">
                <a:solidFill>
                  <a:schemeClr val="dk1"/>
                </a:solidFill>
              </a:rPr>
              <a:t>balanced team efficiency and shooting quality mattered more than star scoring alone</a:t>
            </a:r>
            <a:r>
              <a:rPr lang="en" sz="1100">
                <a:solidFill>
                  <a:schemeClr val="dk1"/>
                </a:solidFill>
              </a:rPr>
              <a:t>.</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Sources</a:t>
            </a:r>
            <a:endParaRPr/>
          </a:p>
        </p:txBody>
      </p:sp>
      <p:sp>
        <p:nvSpPr>
          <p:cNvPr id="139" name="Google Shape;13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Downloaded Dataset Source: </a:t>
            </a:r>
            <a:endParaRPr/>
          </a:p>
          <a:p>
            <a:pPr indent="457200" lvl="0" marL="0" rtl="0" algn="l">
              <a:spcBef>
                <a:spcPts val="1200"/>
              </a:spcBef>
              <a:spcAft>
                <a:spcPts val="0"/>
              </a:spcAft>
              <a:buNone/>
            </a:pPr>
            <a:r>
              <a:rPr lang="en" u="sng">
                <a:solidFill>
                  <a:schemeClr val="hlink"/>
                </a:solidFill>
                <a:hlinkClick r:id="rId3"/>
              </a:rPr>
              <a:t>https://sports-statistics.com/sports-data/nba-basketball-datasets-csv-files/</a:t>
            </a:r>
            <a:r>
              <a:rPr lang="en"/>
              <a:t> </a:t>
            </a:r>
            <a:endParaRPr/>
          </a:p>
          <a:p>
            <a:pPr indent="0" lvl="0" marL="0" rtl="0" algn="l">
              <a:spcBef>
                <a:spcPts val="1200"/>
              </a:spcBef>
              <a:spcAft>
                <a:spcPts val="0"/>
              </a:spcAft>
              <a:buNone/>
            </a:pPr>
            <a:r>
              <a:rPr lang="en"/>
              <a:t>Web Collection #1 Source: </a:t>
            </a:r>
            <a:endParaRPr/>
          </a:p>
          <a:p>
            <a:pPr indent="457200" lvl="0" marL="0" rtl="0" algn="l">
              <a:spcBef>
                <a:spcPts val="1200"/>
              </a:spcBef>
              <a:spcAft>
                <a:spcPts val="0"/>
              </a:spcAft>
              <a:buNone/>
            </a:pPr>
            <a:r>
              <a:rPr lang="en" u="sng">
                <a:solidFill>
                  <a:schemeClr val="hlink"/>
                </a:solidFill>
                <a:hlinkClick r:id="rId4"/>
              </a:rPr>
              <a:t>NBA.com</a:t>
            </a:r>
            <a:r>
              <a:rPr lang="en"/>
              <a:t> </a:t>
            </a:r>
            <a:endParaRPr/>
          </a:p>
          <a:p>
            <a:pPr indent="0" lvl="0" marL="0" rtl="0" algn="l">
              <a:spcBef>
                <a:spcPts val="1200"/>
              </a:spcBef>
              <a:spcAft>
                <a:spcPts val="0"/>
              </a:spcAft>
              <a:buNone/>
            </a:pPr>
            <a:r>
              <a:rPr lang="en"/>
              <a:t>Web Collection #2 Source: </a:t>
            </a:r>
            <a:endParaRPr/>
          </a:p>
          <a:p>
            <a:pPr indent="457200" lvl="0" marL="0" rtl="0" algn="l">
              <a:spcBef>
                <a:spcPts val="1200"/>
              </a:spcBef>
              <a:spcAft>
                <a:spcPts val="0"/>
              </a:spcAft>
              <a:buNone/>
            </a:pPr>
            <a:r>
              <a:rPr lang="en" u="sng">
                <a:solidFill>
                  <a:schemeClr val="hlink"/>
                </a:solidFill>
                <a:hlinkClick r:id="rId5"/>
              </a:rPr>
              <a:t>https://www.basketball-reference.com/leagues/NBA_2025.html#all_shooting_team-opponent</a:t>
            </a:r>
            <a:r>
              <a:rPr lang="en"/>
              <a:t>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